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5"/>
  </p:notesMasterIdLst>
  <p:sldIdLst>
    <p:sldId id="256" r:id="rId2"/>
    <p:sldId id="322" r:id="rId3"/>
    <p:sldId id="2435" r:id="rId4"/>
    <p:sldId id="2400" r:id="rId5"/>
    <p:sldId id="2436" r:id="rId6"/>
    <p:sldId id="2437" r:id="rId7"/>
    <p:sldId id="2438" r:id="rId8"/>
    <p:sldId id="2439" r:id="rId9"/>
    <p:sldId id="2440" r:id="rId10"/>
    <p:sldId id="2442" r:id="rId11"/>
    <p:sldId id="2443" r:id="rId12"/>
    <p:sldId id="2444" r:id="rId13"/>
    <p:sldId id="2445" r:id="rId14"/>
    <p:sldId id="2446" r:id="rId15"/>
    <p:sldId id="2447" r:id="rId16"/>
    <p:sldId id="2448" r:id="rId17"/>
    <p:sldId id="2449" r:id="rId18"/>
    <p:sldId id="2441" r:id="rId19"/>
    <p:sldId id="2450" r:id="rId20"/>
    <p:sldId id="2454" r:id="rId21"/>
    <p:sldId id="2451" r:id="rId22"/>
    <p:sldId id="2453" r:id="rId23"/>
    <p:sldId id="2455" r:id="rId24"/>
    <p:sldId id="2452" r:id="rId25"/>
    <p:sldId id="2459" r:id="rId26"/>
    <p:sldId id="2461" r:id="rId27"/>
    <p:sldId id="2462" r:id="rId28"/>
    <p:sldId id="2463" r:id="rId29"/>
    <p:sldId id="2460" r:id="rId30"/>
    <p:sldId id="2458" r:id="rId31"/>
    <p:sldId id="2457" r:id="rId32"/>
    <p:sldId id="2464" r:id="rId33"/>
    <p:sldId id="2456" r:id="rId34"/>
    <p:sldId id="2465" r:id="rId35"/>
    <p:sldId id="2474" r:id="rId36"/>
    <p:sldId id="2466" r:id="rId37"/>
    <p:sldId id="2475" r:id="rId38"/>
    <p:sldId id="2467" r:id="rId39"/>
    <p:sldId id="2476" r:id="rId40"/>
    <p:sldId id="2468" r:id="rId41"/>
    <p:sldId id="2469" r:id="rId42"/>
    <p:sldId id="2535" r:id="rId43"/>
    <p:sldId id="2470" r:id="rId44"/>
    <p:sldId id="2471" r:id="rId45"/>
    <p:sldId id="2477" r:id="rId46"/>
    <p:sldId id="2478" r:id="rId47"/>
    <p:sldId id="2472" r:id="rId48"/>
    <p:sldId id="2473" r:id="rId49"/>
    <p:sldId id="2479" r:id="rId50"/>
    <p:sldId id="2483" r:id="rId51"/>
    <p:sldId id="2480" r:id="rId52"/>
    <p:sldId id="2484" r:id="rId53"/>
    <p:sldId id="2481" r:id="rId54"/>
    <p:sldId id="2482" r:id="rId55"/>
    <p:sldId id="2486" r:id="rId56"/>
    <p:sldId id="2485" r:id="rId57"/>
    <p:sldId id="2487" r:id="rId58"/>
    <p:sldId id="2489" r:id="rId59"/>
    <p:sldId id="2488" r:id="rId60"/>
    <p:sldId id="2490" r:id="rId61"/>
    <p:sldId id="2491" r:id="rId62"/>
    <p:sldId id="2492" r:id="rId63"/>
    <p:sldId id="2493" r:id="rId64"/>
    <p:sldId id="2494" r:id="rId65"/>
    <p:sldId id="2495" r:id="rId66"/>
    <p:sldId id="2506" r:id="rId67"/>
    <p:sldId id="2496" r:id="rId68"/>
    <p:sldId id="2497" r:id="rId69"/>
    <p:sldId id="2507" r:id="rId70"/>
    <p:sldId id="2498" r:id="rId71"/>
    <p:sldId id="2508" r:id="rId72"/>
    <p:sldId id="2499" r:id="rId73"/>
    <p:sldId id="2509" r:id="rId74"/>
    <p:sldId id="2500" r:id="rId75"/>
    <p:sldId id="2501" r:id="rId76"/>
    <p:sldId id="2502" r:id="rId77"/>
    <p:sldId id="2510" r:id="rId78"/>
    <p:sldId id="2503" r:id="rId79"/>
    <p:sldId id="2504" r:id="rId80"/>
    <p:sldId id="2511" r:id="rId81"/>
    <p:sldId id="2512" r:id="rId82"/>
    <p:sldId id="2514" r:id="rId83"/>
    <p:sldId id="2515" r:id="rId84"/>
    <p:sldId id="2516" r:id="rId85"/>
    <p:sldId id="2517" r:id="rId86"/>
    <p:sldId id="2513" r:id="rId87"/>
    <p:sldId id="2520" r:id="rId88"/>
    <p:sldId id="2519" r:id="rId89"/>
    <p:sldId id="2521" r:id="rId90"/>
    <p:sldId id="2522" r:id="rId91"/>
    <p:sldId id="2518" r:id="rId92"/>
    <p:sldId id="2526" r:id="rId93"/>
    <p:sldId id="2527" r:id="rId94"/>
    <p:sldId id="2525" r:id="rId95"/>
    <p:sldId id="2524" r:id="rId96"/>
    <p:sldId id="2528" r:id="rId97"/>
    <p:sldId id="2532" r:id="rId98"/>
    <p:sldId id="2529" r:id="rId99"/>
    <p:sldId id="2530" r:id="rId100"/>
    <p:sldId id="2531" r:id="rId101"/>
    <p:sldId id="2533" r:id="rId102"/>
    <p:sldId id="2534" r:id="rId103"/>
    <p:sldId id="2434" r:id="rId10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65B88BE-7067-4E01-A3DC-10AFCF848BC8}">
          <p14:sldIdLst>
            <p14:sldId id="256"/>
            <p14:sldId id="322"/>
            <p14:sldId id="2435"/>
            <p14:sldId id="2400"/>
            <p14:sldId id="2436"/>
            <p14:sldId id="2437"/>
            <p14:sldId id="2438"/>
            <p14:sldId id="2439"/>
            <p14:sldId id="2440"/>
            <p14:sldId id="2442"/>
            <p14:sldId id="2443"/>
            <p14:sldId id="2444"/>
            <p14:sldId id="2445"/>
            <p14:sldId id="2446"/>
            <p14:sldId id="2447"/>
            <p14:sldId id="2448"/>
            <p14:sldId id="2449"/>
            <p14:sldId id="2441"/>
            <p14:sldId id="2450"/>
            <p14:sldId id="2454"/>
            <p14:sldId id="2451"/>
            <p14:sldId id="2453"/>
            <p14:sldId id="2455"/>
            <p14:sldId id="2452"/>
            <p14:sldId id="2459"/>
            <p14:sldId id="2461"/>
            <p14:sldId id="2462"/>
            <p14:sldId id="2463"/>
            <p14:sldId id="2460"/>
            <p14:sldId id="2458"/>
            <p14:sldId id="2457"/>
            <p14:sldId id="2464"/>
            <p14:sldId id="2456"/>
            <p14:sldId id="2465"/>
            <p14:sldId id="2474"/>
            <p14:sldId id="2466"/>
            <p14:sldId id="2475"/>
            <p14:sldId id="2467"/>
            <p14:sldId id="2476"/>
            <p14:sldId id="2468"/>
            <p14:sldId id="2469"/>
            <p14:sldId id="2535"/>
            <p14:sldId id="2470"/>
            <p14:sldId id="2471"/>
            <p14:sldId id="2477"/>
            <p14:sldId id="2478"/>
            <p14:sldId id="2472"/>
            <p14:sldId id="2473"/>
            <p14:sldId id="2479"/>
            <p14:sldId id="2483"/>
            <p14:sldId id="2480"/>
            <p14:sldId id="2484"/>
            <p14:sldId id="2481"/>
            <p14:sldId id="2482"/>
            <p14:sldId id="2486"/>
            <p14:sldId id="2485"/>
            <p14:sldId id="2487"/>
            <p14:sldId id="2489"/>
            <p14:sldId id="2488"/>
            <p14:sldId id="2490"/>
            <p14:sldId id="2491"/>
            <p14:sldId id="2492"/>
            <p14:sldId id="2493"/>
            <p14:sldId id="2494"/>
            <p14:sldId id="2495"/>
            <p14:sldId id="2506"/>
            <p14:sldId id="2496"/>
            <p14:sldId id="2497"/>
            <p14:sldId id="2507"/>
            <p14:sldId id="2498"/>
            <p14:sldId id="2508"/>
            <p14:sldId id="2499"/>
            <p14:sldId id="2509"/>
            <p14:sldId id="2500"/>
            <p14:sldId id="2501"/>
            <p14:sldId id="2502"/>
            <p14:sldId id="2510"/>
            <p14:sldId id="2503"/>
            <p14:sldId id="2504"/>
            <p14:sldId id="2511"/>
            <p14:sldId id="2512"/>
            <p14:sldId id="2514"/>
            <p14:sldId id="2515"/>
            <p14:sldId id="2516"/>
            <p14:sldId id="2517"/>
            <p14:sldId id="2513"/>
            <p14:sldId id="2520"/>
            <p14:sldId id="2519"/>
            <p14:sldId id="2521"/>
            <p14:sldId id="2522"/>
            <p14:sldId id="2518"/>
            <p14:sldId id="2526"/>
            <p14:sldId id="2527"/>
            <p14:sldId id="2525"/>
            <p14:sldId id="2524"/>
            <p14:sldId id="2528"/>
            <p14:sldId id="2532"/>
            <p14:sldId id="2529"/>
            <p14:sldId id="2530"/>
            <p14:sldId id="2531"/>
            <p14:sldId id="2533"/>
            <p14:sldId id="2534"/>
            <p14:sldId id="243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el Bernatsky" initials="PB" lastIdx="1" clrIdx="0">
    <p:extLst>
      <p:ext uri="{19B8F6BF-5375-455C-9EA6-DF929625EA0E}">
        <p15:presenceInfo xmlns:p15="http://schemas.microsoft.com/office/powerpoint/2012/main" userId="ccc84f90653f6d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1C54A-6947-426C-B525-F25AAC6D8000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E16E5-A75C-4DD5-8B93-6FB68F18C13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97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7616F-E2AF-5AFF-C83A-FE3735AD8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F40183-988B-BA61-B91E-493895FD9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93C7B4-DBE6-06CE-CFC7-F4ED4D99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BB8FF-A395-C430-3789-0945A531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F6F5BE-4CB2-9257-FD2E-739215DB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546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2D562-7427-3307-029D-4B44232F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8B9DD3-38AD-093A-348B-69D8AF958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409026-C297-8D81-0690-BCF909A2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B93BB5-71D6-265C-76BF-7BA55253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812ED-7C3E-2E99-174E-7CBA5506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836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7F112-08AD-1D83-FA9D-D723E27C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D4462B-7C02-3784-D700-720E99BA1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B8AEC1-27F7-FAA3-29A1-66B8783B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9F6EE4-5AF4-CE7C-B7F4-C587BFEC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262F68-CBA3-0915-2295-961EC87E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70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AAB05-2830-EFAE-DE4B-ACD17427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4D6307-654D-D982-4407-B8F3D7946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186F62-1DB1-3C6F-EA13-795572FAE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940FA2-011F-64EB-05FB-8559EF775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7AD932-F2FD-1AF1-F4D9-F5E82D0C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145922-4144-9D1A-7394-C37497389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375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C79E9-E032-A699-2CFB-44AC92832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2F1728-CD76-7149-9437-8308AF8E6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31FA6F-EC02-4DE3-6650-B80F00E86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F9C784-C313-EF39-B97C-F19B68E62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EC93D1-A12D-D057-6BE7-78586123A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9B00CC-01F6-7087-C302-940F9C98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6EBCC5B-A9F4-C18A-35F5-2949CEAA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8B959-499F-742D-E1FF-78941C4B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029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B2447-25C4-6DCF-DAD4-FEDF21FF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46070A-CABC-8A01-79F7-51A84F44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485DBC-EE1F-353D-3249-9E99780A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D416B2-2B57-8CF9-D053-EF6A7AB1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669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A9FDE4F-142C-5FCB-A615-EDAA1353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6EB5D2-B75C-FB77-8F63-19FA5384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B97733-0993-8A78-D35D-65EA8B9F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051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8FC8E-4425-CC0C-710F-98C6425E3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73CCAC-EA76-40D6-17B2-7C2AFD435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FDA7B0-EDAC-58A1-8AED-C4E8D631B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C5F31B-981C-419A-6E49-3095113FB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8C04E2-0ACD-F790-199B-7863EDE0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0F2067-A078-C57A-9204-3A8B2F26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211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29DED-D98F-B6A2-AD7C-772F99A3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0C5605-1482-0713-0D51-A3FAC7815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A60C0B-E2FB-D11A-ADBF-D996E01C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DE09DD-B690-CF21-DFC4-F02331B6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16318B-2EDE-3598-7847-C4B42395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7F3B72-6E6E-8853-E9C1-9458DC7C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140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32ABC-7F92-53F8-6B38-14EBA795E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74F8DD-3073-73DB-0FEC-83EE799CF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52118E-3EA2-A9A4-2BC2-E44B3237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690F8-6FA6-1F50-D67E-E6622891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72A8B7-B8F9-CA99-A4E2-0D1A6411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267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4C6878-D0A6-5DB7-DDA4-5524F63A1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290E6A-E317-C5F4-3234-CA514674E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27F236-BB3C-2C98-8A01-D57936776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B6E046-C620-4F58-405E-9C010359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06496C-B074-7D9D-1BB6-63F00672A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81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D0170-EF02-F5B2-75D2-863D1255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7FE9A8-6239-E8DA-5893-CC54DCF5A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C7A97B-8B60-4C6E-4780-AF77C5AA1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9804F4-87F9-55E6-92A8-EB0A9D1E6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4F28E9-786F-C124-9986-B7AAB37E4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036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2402" y="3635620"/>
            <a:ext cx="6587197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Свопинг и виртуальная память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47590" y="3051019"/>
            <a:ext cx="1896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8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91"/>
            <a:ext cx="10515600" cy="49981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Мультипрограммирование со свопингом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Виртуальная память: основные концепции, страничная, сегментная и сегментно-страничная организации виртуальной памяти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Задачи управления виртуальной памятью: задача размещения, задача перемещения, задача преобразования адресов, задача замещения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Подкачка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 замещения страниц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921328" y="365126"/>
          <a:ext cx="10432472" cy="1018309"/>
        </p:xfrm>
        <a:graphic>
          <a:graphicData uri="http://schemas.openxmlformats.org/drawingml/2006/table">
            <a:tbl>
              <a:tblPr/>
              <a:tblGrid>
                <a:gridCol w="10432472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j-cs"/>
                        </a:rPr>
                        <a:t>План лекции</a:t>
                      </a:r>
                      <a:endParaRPr lang="LID4096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100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Необходимым условием для того, чтобы программа могла выполняться, является ее нахождение в оперативной памяти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Только в этом случае процессор может извлекать команды из памяти и интерпретировать их, выполняя заданные действия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Объем оперативной памяти, который имеется в компьютере, существенно сказывается на характере протекания-вычислительного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Он ограничивает число одновременно выполняющихся программ и размеры их виртуальных адресных пространств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06091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91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некоторых случаях, когда все задачи мультипрограммной смеси являются вычислительными (то есть выполняют относительно мало операций ввода-вывода, разгружающих центральный процессор), для хорошей загрузки процессора может оказаться достаточным всего 3-5 задач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если вычислительная система загружена выполнением интерактивных задач, то для эффективного использования процессора может потребоваться уже несколько десятков, а то и сотен задач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0830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824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90867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C320F62-033D-D14B-CAE8-98FDB516D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7" y="1450848"/>
            <a:ext cx="10518647" cy="5248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7140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графике отображена зависимость коэффициента загрузки процессора от числа одновременно выполняемых процессов и доли времени, проводимого этими процессами в состоянии ожидания ввода-вывода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Большое количество задач, необходимое для высокой загрузки процессора, требует большого объема оперативной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условиях, когда для обеспечения приемлемого уровня мультипрограммирования имеющейся оперативной памяти недостаточно, был предложен метод организации вычислительного процесса, при котором образы некоторых процессов целиком или частично временно выгружаются на диск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31942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8862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мультипрограммном режиме помимо активного процесса, то есть процесса, коды которого в настоящий момент интерпретируются процессором, имеются приостановленные процессы, находящиеся в ожидании завершения ввода-вывода или освобождения ресурсов, а также процессы в состоянии готовности, стоящие в очереди к процессору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Образы таких неактивных процессов могут быть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временно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до следующего цикла активности,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выгружены на диск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Несмотря на то что коды и данные процесса отсутствуют в оперативной памяти, ОС «знает» о его существовании и в полной мере учитывает это при распределении процессорного времени и других системных ресурсов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94311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9442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 моменту, когда подходит очередь выполнения выгруженного процесса, его образ возвращается с диска в оперативную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при этом обнаруживается, что свободного места в оперативной памяти не хватает, то на диск выгружается другой процесс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Такая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подмена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виртуализация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оперативной памяти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дисковой памятью позволяет повысить уровень мультипрограммирования – объем оперативной памяти компьютера в этом случае не столь жестко ограничивает количество одновременно выполняемых процессов, поскольку суммарный объем памяти, занимаемой образами этих процессов, может существенно превосходить имеющийся объем оперативной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7175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817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называется ресурс, свойства которого с точки зрения пользователя или пользовательской программы отличаются от реальных свойств этого ресурса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данном случае в распоряжение прикладного программиста предоставляется виртуальная оперативная память, размер которой намного превосходит всю имеющуюся в системе реальную оперативную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Пользователь пишет программу, а транслятор, используя виртуальные адреса, переводит ее в машинные коды так, как будто в распоряжении программы имеется однородная оперативная память большого объема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05579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0602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действительности же все коды и данные, используемые программой, хранятся на дисках и только при необходимости загружаются в реальную оперативную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Понятно, однако, что работа такой «оперативной памяти» происходит значительно медленнее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Виртуализация оперативной памяти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осуществляется совокупностью программных модулей ОС и аппаратных схем процессора и подразумевает решение следующих задач: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Размещение данных в запоминающих устройствах разного типа, например, часть кодов программы – в оперативной памяти, а часть – на диске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Выбор образов процессов или их частей для перемещения из оперативной памяти на диск и обратно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Перемещение по мере необходимости данных между памятью и диском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Преобразование виртуальных адресов в физические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89132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1050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Очень важно то, что все действия по организации совместного использования диска и оперативной памяти – выделение места для перемещаемых фрагментов, настройка адресов, выбор кандидатов на загрузку и выгрузку – осуществляются операционной системой и аппаратурой процессора автоматически, без участия программиста и никак не сказываются на логике работы приложений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52224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8609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Уже достаточно давно пользователи столкнулись с проблемой размещения в памяти программы, размер которой превышает имеющуюся в наличии свободную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Одним из первых решений было разбиение программы на части, называемые оверлеями. Когда первый оверлей заканчивал свое выполнение, он вызывал другой оверлей. Все оверлеи хранились на диске и перемещались между памятью и диском средствами операционной системы на основании явных директив программиста, содержащихся в программе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Этот способ, несмотря па внешнее сходство, имеет принципиальное отличие от виртуальной памяти, заключающееся в том, что разбиение программы на части и планирование их загрузки в оперативную память должны были выполняться заранее программистом во время написания программы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85661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332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Различают два достаточно близких подхода к виртуализации памяти: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Свопинг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swapping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– образы процессов выгружаются на диск и возвращаются в оперативную память целиком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память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virtual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memory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– между оперативной памятью и диском перемещаются части (сегменты, страницы и т. п.) образов процессов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Свопинг представляет собой частный случай виртуальной памяти и, следовательно, – это более простой в реализации способ совместного использования оперативной памяти и диска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Свопинг и 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752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ему свойственна избыточность: когда ОС решает активизировать процесс, для его выполнения, как правило, не требуется загружать в оперативную память все его сегменты полностью – достаточно загрузить небольшую часть кодового сегмента с подлежащей выполнению инструкцией и частью сегментов данных, с которыми работает эта инструкция, а также отвести место под сегмент стека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Аналогично, при освобождении памяти для загрузки нового процесса очень часто вовсе не требуется выгружать другой процесс на диск целиком, достаточно вытеснить на диск только часть его образа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Перемещение избыточной информации замедляет работу системы, а также приводит к неэффективному использованию памяти. Кроме того, системы, поддерживающие свопинг, имеют еще один очень существенный недостаток: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они не способны загрузить для выполнения процесс, виртуальное адресное пространство которого превышает имеющуюся в наличии свободную память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8472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663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Именно из-за указанных недостатков свопинг как основной механизм управления памятью почти не используется в современных ОС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смену ему пришел более совершенный механизм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виртуальной памяти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который, как уже было сказано, заключается в том, что при нехватке места в оперативной памяти на диск выгружаются только части образов процессов</a:t>
            </a:r>
          </a:p>
          <a:p>
            <a:pPr marL="0" indent="0">
              <a:buNone/>
            </a:pP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Однако в некоторых современных ОС, например версиях Unix, основанных на коде SVR4, механизм свопинга используется как дополнительный к виртуальной памяти и включается только при серьезных перегрузках системы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16674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776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Ключевой проблемой виртуальной памяти, возникающей в результате многократного изменения местоположения в оперативной памяти образов процессов или их частей, является преобразование виртуальных адресов в физические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Решение этой проблемы, в свою очередь, зависит от того, какой способ структуризации виртуального адресного пространства принят в данной системе управления памятью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множество реализаций виртуальной памяти может быть представлено тремя классами: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сегментным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страничным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сегментно-страничным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57505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 </a:t>
                      </a: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виды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7760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случае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страничной виртуальной памяти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перемещение данных между памятью и диском организуется страницами – частями виртуального адресного пространства фиксированного и сравнительно небольшого размера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Сегментная виртуальная память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предусматривает перемещение данных сегментами – частями виртуального адресного пространства произвольного размера, полученными с учетом смыслового значения данных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сегментно-страничной виртуальной памяти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используется двухуровневое деление: виртуальное адресное пространство делится на сегменты, а затем сегменты делятся на страницы. Единицей перемещения данных здесь является страница. Этот способ управления памятью объединяет в себе элементы обоих предыдущих подходов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14549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 </a:t>
                      </a: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виды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2418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временного хранения сегментов и страниц на диске отводится либо специальная область, либо специальный файл, которые во многих ОС по традиции продолжают называть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областью, или файлом, свопинга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хотя перемещение информации между оперативной памятью и диском осуществляется уже не в форме полного замещения одного процесса другим, а частями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Другое популярное название этой области –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страничный файл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page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или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paging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или же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файл подкачки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Текущий размер страничного файла является важным параметром, оказывающим влияние на возможности операционной системы: чем больше страничный файл, тем больше приложений может одновременно выполнять ОС (при фиксированном размере оперативной памяти)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80813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Свопинг и подкачка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009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необходимо понимать, что увеличение числа одновременно работающих приложений за счет увеличения размера страничного файла замедляет их работу, так как значительная часть времени при этом тратится на перекачку кодов и данных из оперативной памяти на диск и обратно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Размер страничного файла в современных ОС является настраиваемым параметром, который выбирается администратором системы для достижения компромисса между уровнем мультипрограммирования и быстродействием системы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Microsoft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советует иметь файл подкачки размера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1.5-2x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 размера доступной оперативной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01740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Свопинг и подкачка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2064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Теперь же рассмотрим как устроены три ранее упомянутых способа организации виртуальной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Первым рассмотрим страничный принцип организации виртуальной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страничном распределении памяти виртуальное адресное пространство каждого процесса делится на части одинакового, фиксированного для данной системы размера, называемые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виртуальными страницами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virtual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pages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общем случае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размер виртуального адресного пространства процесса не кратен размеру страницы, поэтому последняя страница каждого процесса дополняется фиктивной областью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35862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109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3ECE-D7C6-B8AD-6683-10771BE12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336" y="0"/>
            <a:ext cx="81673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253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Вся оперативная память машины также делится на части такого же размера, называемые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физическими страницами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(или блоками, или кадрами)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Размер страницы выбирается равным степени двойки: 512, 1024, 4096 байт и т. д., Это позволяет упростить механизм преобразования адресов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создании процесса ОС загружает в оперативную память несколько его виртуальных страниц (начальные страницы кодового сегмента и сегмента данных). Копия всего виртуального адресного пространства процесса находится на диске. Смежные виртуальные страницы не обязательно располагаются в смежных физических страницах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96217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880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каждого процесса операционная система создает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таблицу страниц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информационную структуру, содержащую записи обо всех виртуальных страницах процесса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Дескриптор страницы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отдельная запись таблицы. Она включает следующую информацию: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Номер физической страницы, в которую загружена данная виртуальная страница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 присутствия, устанавливаемый в единицу, если виртуальная страница находится в оперативной памяти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 модификации страницы, который устанавливается в единицу всякий раз, когда производится запись по адресу, относящемуся к данной странице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 обращения к странице, называемый также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битом доступа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который устанавливается в единицу при каждом обращении по адресу, относящемуся к данной странице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88419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4855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Признаки присутствия, модификации и обращения в большинстве моделей современных процессоров устанавливаются схемами процессора аппаратно при выполнении операции с памятью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Информация из таблиц страниц используется для решения вопроса о необходимости перемещения той или иной страницы между памятью и диском, а также для преобразования виртуального адреса в физический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Сами таблицы страниц, так же как и описываемые ими страницы, размещаются в оперативной памяти. Адрес таблицы страниц включается в контекст соответствующего процесса. При активизации очередного процесса операционная система загружает адрес его таблицы страниц в специальный регистр процессора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CR3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91001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37195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каждом обращении к памяти выполняется поиск номера виртуальной страницы, содержащей требуемый адрес, затем по этому номеру определяется нужный элемент таблицы страниц и из него извлекается описывающая страницу информация </a:t>
            </a: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(возможность кеширования в данном описании не учитывается)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Далее анализируется признак присутствия, и если данная виртуальная страница находится в оперативной памяти, то выполняется преобразование виртуального адреса в физический, то есть виртуальный адрес заменяется указанным в записи таблицы физическим адресом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82136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2922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же нужная виртуальная страница в данный момент выгружена на диск, то происходит так называемое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страничное прерывание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Выполняющийся процесс переводится в состояние ожидания и активизируется другой процесс из очереди процессов, находящихся в состоянии готовности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Параллельно программа обработки страничного прерывания находит на диске требуемую виртуальную страницу (для этого операционная система должна помнить положение вытесненной страницы в страничном файле диска) и пытается загрузить ее в оперативную память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17759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1435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в памяти имеется свободная физическая страница, то загрузка выполняется немедленно, если же свободных страниц нет, то на основании принятой в данной системе стратегии замещения страниц решается вопрос о том, какую страницу следует выгрузить из оперативной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 того как выбрана страница, которая должна покинуть оперативную память, обнуляется ее бит присутствия и анализируется ее признак модификации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выталкиваемая страница за время последнего пребывания в оперативной памяти была модифицирована, то ее новая версия должна быть переписана на диск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65809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91401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нет, то принимается во внимание, что на диске уже имеется предыдущая копия этой виртуальной страницы, и никакой записи на диск не производится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Физическая страница объявляется свободной. Из соображений безопасности в некоторых системах освобождаемая страница обнуляется, с тем чтобы невозможно было использовать содержимое выгруженной страницы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хранения информации о положении вытесненной страницы в страничном файле ОС может использовать поля таблицы страниц или же другую системную структуру данных (например, дескриптор сегмента при сегментно-страничной организации виртуальной памяти)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05173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20915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Виртуальный адрес яри страничном распределении может быть представлен в виде пары (р,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где р – порядковый номер виртуальной страницы процесса (нумерация страниц начинается с 0), a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смещение в пределах виртуальной страницы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Физический адрес также может быть представлен в виде пары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s</a:t>
            </a:r>
            <a:r>
              <a:rPr lang="en-US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где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 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номер физической страницы, a s</a:t>
            </a:r>
            <a:r>
              <a:rPr lang="en-US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f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смещение в пределах физической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страницы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Задача подсистемы виртуальной памяти состоит в отображении пары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на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s</a:t>
            </a:r>
            <a:r>
              <a:rPr lang="en-US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51435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5569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Прежде чем приступить к рассмотрению схемы преобразования виртуального адреса в физический, остановимся на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двух базисных свойствах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страничной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организации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Первое из них состоит в том, что объем страницы выбирается равным степени двойки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2</a:t>
            </a:r>
            <a:r>
              <a:rPr lang="en-US" baseline="30000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Второе свойство заключается в том, что в пределах страницы непрерывная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последовательность виртуальных адресов однозначно отображается на непрерывную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последовательность физических адресов, а, значит, смещения в виртуальном и физическом адресах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s</a:t>
            </a:r>
            <a:r>
              <a:rPr lang="en-US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равны между собой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73285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61351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первого свойства следует, что смещение s может быть получено простым отделением к младших разрядов в двоичной записи адреса, а оставшиеся старшие разряды адреса представляют собой двоичную запись номера страницы (при этом неважно, является страница виртуальной или физической)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если размер страницы составляет 1 Кбайт (2</a:t>
            </a:r>
            <a:r>
              <a:rPr lang="ru-RU" baseline="30000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то из двоичной записи адреса 5071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- 101 000 111 001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можно определить, что он принадлежит странице, номер которой в двоичном выражении равен 10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смещен относительно ее начала на 1 000 111 001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байт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50686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7306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91915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5E56EAE-F76E-4713-6054-7383FFCB7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13" y="1643342"/>
            <a:ext cx="5895975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17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рисунка хорошо видно, что номер страницы и ее начальный адрес легко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могут быть получены один из другого дополнением или отбрасыванием k нулей, соответствующих смещению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Именно по этой причине часто говорят, что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таблица страниц содержит начальный физический адрес страницы в памяти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(а не номер физической страницы), хотя на самом деле в таблице указаны только старшие разряды адреса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Начальный адрес страницы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базовым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адресом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74634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6012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второго свойства следует простая схема преобразования виртуального адреса в физический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Младшие разряды физического адреса, соответствующие смещению, получаются переносом такого же количества младших разрядов из виртуального адреса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Старшие разряды физического адреса, соответствующие номеру физической страницы, определяются из таблицы страниц, в которой указывается соответствие виртуальных и физических страниц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84572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2112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11572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BF1242C-222C-06CB-D92A-2467CE6AA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657" y="1465543"/>
            <a:ext cx="8088686" cy="539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2934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Итак, пусть произошло обращение к памяти по некоторому виртуальному адресу. Аппаратными схемами процессора выполняются следующие действия: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1. Из специального регистра процессора извлекается адрес АТ таблицы страниц активного процесса. На основании начального адреса таблицы страниц, номера виртуальной страницы р (старшие разряды виртуального адреса) и длины отдельной записи в таблице страниц L (системная константа) определяется адрес нужного дескриптора в таблице страниц: 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 = АТ + (р * L)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2. Из этого дескриптора извлекается номер соответствующей физической страницы –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3. К номеру физической страницы присоединяется смещение s (младшие разряды виртуального адреса)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96974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9215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FE455C5-6B32-33D0-F43F-114D35C8A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707" y="170049"/>
            <a:ext cx="9074586" cy="651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929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Страничное распределение памяти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может быть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реализовано в упрощенном варианте,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без выгрузки страниц на диск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этом случае все виртуальные страницы всех процессов постоянно находятся в оперативной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Такой вариант страничной организации, хотя и не предоставляет пользователю преимуществ работы с виртуальной памятью большого объема, сохраняет другое достоинство страничной организации – позволяет успешно бороться с фрагментацией физической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67667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02698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Действительно, во-первых, программу можно разбить на части и загрузить в разрозненные участки свободной памяти, во-вторых, при загрузке виртуальных страниц никогда не образуется неиспользуемых остатков, так как размеры виртуальных и физических страниц совпадают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Такой режим работы системы управления памятью используется в некоторых специализированных ОС, когда требуется высокая реактивность системы и способность выполнять переменный набор приложений (пример – ОС семейства Novell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NetWare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3.x и 4.x)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Свопинг и 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88344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выполнении типичной машинной команды происходит в среднем 3-4 обращения к памяти (выборка команды, извлечение операндов, запись результата)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системе с виртуальной страничной памятью при каждом из этих обращений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необходимо выполнить либо преобразование виртуального адреса в физический, либо обработку страничного прерывания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выполнения этих операций в значительной степени влияет на общую производительность вычислительной системы, поэтому столь большое внимание разработчиков уделяется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оптимизации виртуальной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5736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50910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Накладные расходы системы на поддержание страничной виртуальной памяти могут быть уменьшены за счет: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Аппаратного способа преобразования виртуального адреса в физический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Снижения частоты страничных прерываний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путем оптимизации размера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страницы, а также выбора страниц на загрузку/выгрузку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 аппаратное преобразование виртуальных адресов а физические отвечает такое устройство как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>
                <a:latin typeface="Cambria" panose="02040503050406030204" pitchFamily="18" charset="0"/>
                <a:ea typeface="Cambria" panose="02040503050406030204" pitchFamily="18" charset="0"/>
              </a:rPr>
              <a:t>блок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управления памятью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Memory Management Unit (MMU)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20987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9447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11" name="Picture 10" descr="A diagram of a computer process&#10;&#10;Description automatically generated">
            <a:extLst>
              <a:ext uri="{FF2B5EF4-FFF2-40B4-BE49-F238E27FC236}">
                <a16:creationId xmlns:a16="http://schemas.microsoft.com/office/drawing/2014/main" id="{2E86780E-A114-AC82-6107-105B717F5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116" y="2260895"/>
            <a:ext cx="7137767" cy="30354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10526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Эффективность аппаратного получения физического адреса по виртуальному может быть повышена, если размер страницы выбрать равным степени двойки. В этом случае двоичная запись адреса легко разделяется на номер страницы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смещение, а значит, в процедуре преобразования адресов более длительную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операцию сложения можно заменить операцией присоединения (конкатенации)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Применяются и другие способы ускорения преобразования, такие, например, как кэширование таблицы страниц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хранение наиболее активно используемых записей в быстродействующих запоминающих устройствах, в частности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регистрах процессора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27063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26967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Другим важным фактором, влияющим на производительность системы, является частота страничных прерываний, на которую, в свою очередь, влияют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размер страницы и принятые в данной системе правила выбора страниц для выгрузки и загрузки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неправильно выбранной стратегии замещения страниц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могут возникать ситуации, когда система тратит большую часть времени впустую на подкачку страниц из оперативной памяти на диск и обратно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74716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38391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выборе страницы на выгрузку могут быть использованы различные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критерии, смысл которых сводится к одному: на диск выталкивается страница,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 которой в будущем, начиная с данного момента, дольше всего не будет обращений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Поскольку точно предсказать ход вычислительного процесса невозможно, то невозможно точно определить страницу, подлежащую выгрузке. В таких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условиях решение принимается на основе неких эмпирических критериев, часто основывающихся на предположении об инерционности вычислительного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96408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7249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Так, например, из того, что страница не использовалась долгое время,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делается вывод о том, что она, скорее всего, не будет использоваться и в ближайшее время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привлечение критериев такого рода не исключает ситуаций, когда сразу после выгрузки страницы к ней происходит обращение и ее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снова приходится загружать в память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Вероятность таких «напрасных» перемещений настолько велика, что в некоторых реализациях виртуальной памяти вообще отказываются от количественных критериев и предпочитают случайный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выбор, при котором на диск выгружается первая попавшаяся страница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Возникающее при этом некоторое увеличение интенсивности страничного обмена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компенсируется снижением вычислительных затрат на поддержание и анализ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критерия выборки страниц на выгрузку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35532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1152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Наиболее популярным критерием выбора страницы на выгрузку является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число обращений к ней за последний период времени. Вычисление этого критерия происходит следующим образом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Операционная система ведет для каждой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страницы программный счетчик. Значения счетчиков определяются значениями признаков доступа. Всякий раз, когда происходит обращение к какой-либо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странице, процессор устанавливает в единицу признак доступа в относящейся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 данной странице записи таблицы страниц. ОС периодически просматривает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признаки доступа всех страниц во всех существующих в данный момент записях таблицы страниц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какой-либо признак оказывается равным 1 (было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обращение), то система сбрасывает его в 0, увеличивая при этом на единицу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значение связанного с этой страницей счетчика обращений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возникает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необходимость удалить какую-либо страницу из памяти, ОС находит страницу,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счетчик обращений которой имеет наименьшее значение. Для того чтобы критерий учитывал интенсивность обращений за последний период, ОС с соответствующей периодичностью обнуляет все счетчики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87909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8636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Интенсивность страничного обмена может быть также снижена в результате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 называемой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упреждающей загрузки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 соответствие с которой при возникновении страничного прерывания в память загружается не одна страница, содержащая адрес обращения, а сразу несколько прилегающих к ней страниц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Здесь используется эмпирическое правило: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если обращение произошло по некоторому адресу, то велика вероятность того, что следующие обращения произойдут по соседним адресам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12443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48790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Резервом повышения производительности системы является также правильный выбор размера страницы. Каким же должен быть оптимальный размер страницы?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одной стороны, чтобы уменьшить частоту страничных прерываний, следовало бы увеличивать размер страницы. С другой стороны, если страница велика, то велика и фиктивная область в последней виртуальной странице каждого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учесть, что в среднем в каждом процессе фиктивная область составляет половину страницы, то в сумме при большом объеме страницы потери могут составить существенную величину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56730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5577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приведенных соображений следует, что выбор размера страницы является сложной оптимизационной задачей, требующей учета многих факторов. На практике же разработчики ОС и процессоров ограничиваются неким рациональным решением, пригодным для широкого класса вычислительных систем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Типичный размер страницы составляет несколько килобайтов, например, наиболее распространенные процессоры Pentium компании Intel, а также операционные системы, устанавливаемые на компьютерах с этими процессорами, поддерживают страницы размером 4096 байт (4 Кбайт)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84572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23224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Размер страницы влияет также на количество записей в таблицах страниц. Чем меньше страница, тем более объемными являются таблицы страниц процессов и тем больше места они занимают в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Учитывая, что в современных процессорах максимальный объем виртуального адресного пространства процесса, как правило, не меньше 4 Гбайт (2</a:t>
            </a:r>
            <a:r>
              <a:rPr lang="ru-RU" baseline="30000" dirty="0">
                <a:latin typeface="Cambria" panose="02040503050406030204" pitchFamily="18" charset="0"/>
                <a:ea typeface="Cambria" panose="02040503050406030204" pitchFamily="18" charset="0"/>
              </a:rPr>
              <a:t>32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то при размере страницы 4 Кбайт (2</a:t>
            </a:r>
            <a:r>
              <a:rPr lang="ru-RU" baseline="30000" dirty="0">
                <a:latin typeface="Cambria" panose="02040503050406030204" pitchFamily="18" charset="0"/>
                <a:ea typeface="Cambria" panose="02040503050406030204" pitchFamily="18" charset="0"/>
              </a:rPr>
              <a:t>12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и длине записи 4 байт для хранения таблицы страниц может по требоваться 4 Мбайт памяти!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84782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5330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Выходом в такой ситуации является хранение в памяти только той части таблицы страниц, которая активно используется в данный период времени – так как сама таблица страниц хранится в таких же страницах физической памяти, что и описываемые ею страницы, то принципиально возможно временно вытеснять часть таблицы страниц из оперативной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Именно такой результат может быть достигнут путем более сложной структуризации виртуального адресного пространства –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многоуровневые таблицы страниц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01438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27339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двухуровневом страничном распределении памяти множество виртуальных адресов процесса делится на разделы, а разделы делятся на страницы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страницы имеют одинаковый размер, а разделы содержат одинаковое количество страниц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размер страницы и количество страниц в разделе выбрать равными степени двойки (2</a:t>
            </a:r>
            <a:r>
              <a:rPr lang="en-US" baseline="30000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2</a:t>
            </a:r>
            <a:r>
              <a:rPr lang="en-US" baseline="30000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соответственно), то принадлежность виртуального адреса к разделу и странице, а также смещение внутри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страницы можно определить очень просто: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младшие k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двоичных разрядов дают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смещение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следующие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разрядов представляют собой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номер виртуальной страницы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оставшиеся старшие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разряды (обозначим их количество через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содержат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номер раздела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64977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4568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912811"/>
              </p:ext>
            </p:extLst>
          </p:nvPr>
        </p:nvGraphicFramePr>
        <p:xfrm>
          <a:off x="879348" y="365126"/>
          <a:ext cx="5216652" cy="1018309"/>
        </p:xfrm>
        <a:graphic>
          <a:graphicData uri="http://schemas.openxmlformats.org/drawingml/2006/table">
            <a:tbl>
              <a:tblPr/>
              <a:tblGrid>
                <a:gridCol w="5216652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579CB15-630A-BDA6-25D6-16CF0165B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762" y="0"/>
            <a:ext cx="5729042" cy="6858000"/>
          </a:xfrm>
          <a:prstGeom prst="rect">
            <a:avLst/>
          </a:prstGeom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8BA8708F-5710-47FB-40CA-D992945C4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348" y="1532964"/>
            <a:ext cx="5625354" cy="4018615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каждого раздела строится собственная таблица страниц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Количество дескрипторов в таблице и их размер подбираются такими, чтобы объем таблицы оказался равным объему страницы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7835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в процессоре Pentium при размере страницы 4 Кбайт длина дескриптора страницы составляет 4 байта, и количество записей в таблице страниц, помещающейся на странице, равняется соответственно 1024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Каждая таблица страниц описывается дескриптором, структура которого полностью совпадает со структурой дескриптора обычной страницы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Эти дескрипторы сведены в таблицу разделов, называемую также каталогом страниц. Физический адрес таблицы разделов активного процесса содержится в специальном регистре процессора и поэтому всегда известен операционной системе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CR3)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Страница, содержащая таблицу разделов,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никогда не выгружается из памяти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 противном случае работа виртуальной памяти была бы невозможна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0546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33411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Выгрузка страниц с таблицами страниц позволяет сэкономить память, но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этом приводит к дополнительным временным затратам при получении физического адреса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Действительно, может случиться так, что та таблица страниц,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которая содержит нужный дескриптор, в данный момент выгружена на диск,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тогда процесс преобразования адреса приостанавливается до тех пор, пока требуемая страница не будет снова загружена в память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снижения вероятности отсутствия страницы в памяти используются различные приемы, основным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которых является кэширование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88906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0088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Проследим более подробно схему преобразования адресов для случая двухуровневой структуризации виртуального адресного пространства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1. Путем отбрасывания k +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младших разрядов в виртуальном адресе определяется номер раздела, которому принадлежит данный виртуальный адрес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2. По этому номеру из таблицы разделов извлекается дескриптор соответствующей таблицы страниц. Проверяется, находится ли данная таблица страниц в памяти. Если нет, происходит страничное прерывание, и система загружает нужную страницу с диска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23198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5377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Далее из этой таблицы страниц извлекается дескриптор виртуальной страницы, номер которой содержится в средних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разрядах преобразуемого виртуального адреса. Снова выполняется проверка наличия данной страницы в памяти и при необходимости ее загрузка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4. Из дескриптора определяется номер (базовый адрес) физической страницы, в которую загружена данная виртуальная страница. К номеру физической страницы пристыковывается смещение, взятое из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младших разрядов виртуального адреса. В результате получается искомый физический адрес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10929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3216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42972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445F7A8-5327-355B-8337-5BA9ECBEB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187" y="1657350"/>
            <a:ext cx="84296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6128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страничной организации виртуальное адресное пространство процесса делится на равные части механически, без учета смыслового значения данных.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одной странице могут оказаться и коды команд, и инициализируемые переменные, и массив исходных данных программы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Такой подход не позволяет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обеспечить дифференцированный доступ к разным частям программы, а это свойство могло бы быть очень полезным во многих случаях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можно было бы запретить обращаться с операциями записи в сегмент программы, содержащий коды команд, разрешив эту операцию для сегментов данных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68331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68480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Кроме того, разбиение виртуального адресного пространства на «осмысленные» части делает принципиально возможным совместное использование фрагментов программ разными процессами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Пусть, например, двум процессам требуется одна и та же подпрограмма, которая к тому же обладает свойством реентерабельности. Тогда коды этой подпрограммы могут быть оформлены в виде отдельного сегмента и включены в виртуальные адресные пространства обоих процессов. При отображении на физическую память сегменты, содержащие коды подпрограммы из обоих виртуальных пространств, проецируются на одну и ту же область физической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образом, оба процесса получают доступ к одной и той же копии подпрограммы 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35632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00289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45568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04AF5ED-D941-1ECA-FB28-31175DCD9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836" y="1613756"/>
            <a:ext cx="8440328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4683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сегментной организации памяти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виртуальное адресное пространство процесса делится на части –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сегменты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размер которых определяется с учетом смыслового значения содержащейся в них информации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Отдельный сегмент может представлять собой подпрограмму, массив данных и т. п. Деление виртуального адресного пространства на сегменты осуществляется компилятором на основе указаний программиста или по умолчанию, в соответствии с принятыми в системе соглашениями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32911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4765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Максимальный размер сегмента определяется разрядностью виртуального адреса, например, при 32-разрядной организации процессора он равен 4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ГиБ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этом максимально возможное виртуальное адресное пространство процесса представляет собой набор из N виртуальных сегментов, каждый размером по 4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ГиБ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каждом сегменте виртуальные адреса находятся в диапазоне от 00000000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16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до FFFFFFFF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16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Сегменты не упорядочиваются друг относительно друга, так что общего для сегментов линейного виртуального адреса не существует, виртуальный адрес задается парой чисел: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номером сегмента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линейным виртуальным адресом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внутри сегмента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88560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8704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загрузке процесса в оперативную память помещается только часть его сегментов, полная копия виртуального адресного пространства находится во внешней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каждого загружаемого сегмента операционная система подыскивает непрерывный участок свободной памяти достаточного размера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Смежные в виртуальной памяти сегменты одного процесса могут занимать в оперативной памяти несмежные участки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во время выполнения процесса происходит обращение по виртуальному адресу, относящемуся к сегменту, который в данный момент отсутствует в памяти, то происходит прерывание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14829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8704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 приостанавливает активный процесс, запускает на выполнение следующий процесс из очереди, а параллельно организует загрузку нужного сегмента с диска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отсутствии в памяти места, необходимого для загрузки сегмента, операционная система выбирает сегмент на выгрузку, при этом она использует критерии, аналогичные рассмотренным ранее критериям выбора страниц при страничном способе управления памятью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этапе создания процесса во время загрузки его образа в оперативную память система создает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таблицу сегментов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процесса (аналогичную таблице страниц)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95124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855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134709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Каждая запись в таблице сегментов содержит следующие характеристики соответствующего сегмента: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Базовый физический адрес сегмента в оперативной памяти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Размер сегмента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Правила доступа к сегменту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Признаки модификации, присутствия и обращения к данному сегменту, а также некоторая другая информация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виртуальные адресные пространства нескольких процессов включают один и тот же сегмент, то в таблицах сегментов этих процессов делаются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ссылки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один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и тот же участок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оперативной памяти, в который данный сегмент загружается в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единственном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экземпляре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54134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6025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видно, сегментное распределение памяти имеет очень много общего со страничным распределением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Механизмы преобразования адресов этих двух способов управления памятью тоже весьма схожи, однако в них имеются и существенные отличия, которые являются следствием того, что сегменты, в отличие от страниц, имеют произвольный размер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Виртуальный адрес при сегментной организации памяти может быть представлен парой (g, s), где g – номер сегмента, a s – смещение в сегменте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Физический адрес получается путем сложения базового адреса сегмента, который определяется по номеру сегмента g из таблицы сегментов и смещения s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96356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7731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82261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18EF17E-0DC5-A021-1591-C8BCB7574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940" y="1633573"/>
            <a:ext cx="9450119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8628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данном случае нельзя обойтись операцией конкатенации, как это делается при страничной организации памяти. Действительно, поскольку размер страницы равен степени двойки, то в двоичном виде он выражается числом с несколькими нулями в младших разрядах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Страницы имеют одинаковый размер, а, значит, их начальные адреса кратны размеру страниц и выражаются также числами с нулями в младших разрядах.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Именно поэтому ОС заносит в таблицы страниц не полные адреса, а номера физических страниц, которые совпадают со старшими разрядами базовых адресов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73688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09406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Сегмент же может в общем случае располагаться в физической памяти, начиная с любого адреса, следовательно, для определения местоположения в памяти необходимо задать его полный начальный физический адрес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Использование операции сложения вместо конкатенации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замедляет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процедуру преобразования виртуального адреса в физический по сравнению со страничной организацией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Другим недостатком сегментного распределения является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избыточность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При сегментной организации единицей перемещения между памятью и диском является сегмент, имеющий в общем случае объем больший, чем страница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63979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14142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во многих случаях для работы программы вовсе не требуется загружать весь сегмент целиком, достаточно было бы одной или двух страниц. Аналогично, при отсутствии свободного места в памяти не стоит выгружать целый сегмент, когда можно обойтись выгрузкой нескольких страниц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главный недостаток сегментного распределения – это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фрагментация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которая возникает из-за непредсказуемости размеров сегментов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78547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10608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Система с сегментной организацией функционирует аналогично системе со страничной организацией: при каждом обращении к оперативной памяти выполняется преобразование виртуального адреса в физический, время от времени происходят прерывания, связанные с отсутствием нужных сегментов в памяти, при необходимости освобождения памяти некоторые сегменты выгружаются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Одним из существенных отличий сегментной организации памяти от страничной является возможность задания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дифференцированных прав доступа процесса к его сегментам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один сегмент данных, содержащий исходную информацию для приложения, может иметь права доступа «только чтение», а сегмент данных, представляющий результаты, – «чтение и запись»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08549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501416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Сегментно-страничное распределение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представляет собой комбинацию страничного и сегментного механизмов управления памятью и направлен на реализацию достоинств обоих подходов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 же как и при сегментной организации памяти,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виртуальное адресное пространство процесса делится на сегменты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Это позволяет определять разные права доступа к разным частям кодов и данных программы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Перемещение данных между памятью и диском осуществляется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не сегментами, а страницами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Для этого каждый виртуальный сегмент и физическая память делятся на страницы равного размера, что позволяет более эффективно использовать память, сократив до минимума фрагментацию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92360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323542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большинстве современных реализаций сегментно-страничной организации памяти, в отличие от набора виртуальных диапазонов адресов при сегментной организации памяти (а), все виртуальные сегменты образуют одно непрерывное линейное виртуальное адресное пространство (б)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17401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95464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20737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D6E2FE8-1D50-BFB4-F8D9-1F860C34B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179" y="1526347"/>
            <a:ext cx="7227642" cy="525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5089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66168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D6E2FE8-1D50-BFB4-F8D9-1F860C34B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0854" y="1707619"/>
            <a:ext cx="8590291" cy="478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178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Координаты байта в виртуальном адресном пространстве при сегментно-страничной организации можно задать двумя способами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Во-первых, линейным виртуальным адресом, который равен сдвигу данного байта относительно границы общего линейного виртуального пространства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Во-вторых, – парой чисел, одно из которых является номером сегмента, а другое – смещением относительно начала сегмента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этом в отличие от сегментной модели для однозначного задания виртуального адреса вторым способом необходимо каким-то образом указать также начальный виртуальный адрес сегмента с данным номером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29198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14736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Системы виртуальной памяти ОС с сегментно-страничной организацией используют второй способ, так как он позволяет непосредственно определить принадлежность адреса некоторому сегменту и проверить права доступа процесса к нему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каждого процесса операционная система создает отдельную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таблицу сегментов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 которой содержатся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описатели (дескрипторы) всех сегментов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Описание сегмента включает назначенные ему права доступа и другие характеристики, подобные тем, которые содержатся в дескрипторах сегментов при сегментной организации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02929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64593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имеется и принципиальное отличие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поле базового адреса указывается не начальный физический адрес сегмента, отведенный ему в результате загрузки в оперативную память, а начальный линейный виртуальный адрес сегмента в пространстве виртуальных адресов (на двух прошлых схемах базовые физические адреса обозначены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S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а базовые виртуальные адреса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f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Наличие базового виртуального адреса сегмента в дескрипторе позволяет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однозначно преобразовать адрес, заданный в виде пары (номер сегмента, смещение в сегменте), в линейный виртуальный адрес байта, который затем преобразуется в физический адрес страничным механизмом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52494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09076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Деление общего линейного виртуального адресного пространства процесса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физической памяти на страницы осуществляется так же, как это делается при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страничной организации памяти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Размер страниц выбирается равным степени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двойки, что упрощает механизм преобразования виртуальных адресов в физические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Виртуальные страницы нумеруются в пределах виртуального адресного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пространства каждого процесса, а физические страницы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пределах оперативной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12694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7236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Базовые адреса таблиц сегментов и страниц процесса являются частью его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контекста. При активизации процесса эти адреса загружаются в специальные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регистры процессора и используются механизмом преобразования адресов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Преобразование виртуального адреса в физический происходит в два этапа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механизм сегментации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страничный механизм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93815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674241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первом этапе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работает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механизм сегментации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Исходный виртуальный адрес, заданный в виде пары (номер сегмента, смещение), преобразуется в линейный виртуальный адрес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этого на основании базового адреса таблицы сегментов и номера сегмента вычисляется адрес дескриптора сегмента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Анализируются поля дескриптора и выполняется проверка возможности выполнения заданной операции. Если доступ к сегменту разрешен, то вычисляется линейный виртуальный адрес путем сложения базового адреса сегмента, извлеченного из дескриптора, и смещения, заданного в исходном виртуальном адресе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68143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56234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втором этапе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работает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страничный механизм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Полученный линейный виртуальный адрес преобразуется в искомый физический адрес. В результате преобразования линейный виртуальный адрес представляется в том виде, в котором он используется при страничной организации памяти, а именно в виде пары (номер страницы, смещение в странице)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Благодаря тому, что размер страницы выбран равным степени двойки, эта задача решается простым отделением некоторого количества младших двоичных разрядов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результате в старших разрядах содержится номер виртуальной страницы, а в младших – смещение искомого элемента относительно начала страницы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85362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57518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Так, если размер страницы равен 2</a:t>
            </a:r>
            <a:r>
              <a:rPr lang="en-US" i="1" baseline="30000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то смещением является содержимое младших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разрядов, а остальные, старшие, разряды содержат номер виртуальной страницы, которой принадлежит искомый адрес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Далее преобразование адреса происходит так же, как при страничной организации: старшие разряды линейного виртуального адреса, содержащие номер виртуальной страницы, заменяются номером физической страницы, взятым из таблицы страниц, а младшие разряды виртуального адреса, содержащие смещение, остаются без изменений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04197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40701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671074"/>
              </p:ext>
            </p:extLst>
          </p:nvPr>
        </p:nvGraphicFramePr>
        <p:xfrm>
          <a:off x="236734" y="365126"/>
          <a:ext cx="2882984" cy="1463040"/>
        </p:xfrm>
        <a:graphic>
          <a:graphicData uri="http://schemas.openxmlformats.org/drawingml/2006/table">
            <a:tbl>
              <a:tblPr/>
              <a:tblGrid>
                <a:gridCol w="288298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7654EC8-3E5D-8676-39DD-D55C3B015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8" y="118600"/>
            <a:ext cx="9011908" cy="662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9458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070701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видно, механизм сегментации и страничный механизм действуют достаточно независимо друг от друга. Поэтому нетрудно представить себе реализацию сегментно-страничного управления памятью, в которой механизм сегментации работает по вышеописанной схеме, а страничный механизм изменен в соответствии с двухуровневой схемой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таком случае преобразование виртуального адреса в физический происходит в несколько этапов: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Сначала механизм сегментации обычным образом, используя таблицу сегментов, вычисляет линейный виртуальный адрес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Затем из данного виртуального адреса вычленяются номера раздела и страницы, а также смещение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Далее по номеру раздела из таблицы разделов определяется адрес таблицы страниц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Затем по номеру виртуальной страницы из таблицы страниц определяется номер физической страницы, к которому пристыковывается смещение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17780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83272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Рассмотрим еще одну возможную схему управления памятью, основанную на комбинировании сегментного и страничного механизмов. Так же как и в предыдущих случаях, виртуальное пространство процесса делится на сегменты, а каждый сегмент, в свою очередь, делится на виртуальные страницы. 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Первое отличие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состоит в том, что виртуальные страницы нумеруются не в пределах всего адресного пространства процесса, а в пределах сегмента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Виртуальный адрес в этом случае выражается тройкой (номер сегмента, номер страницы, смещение в странице)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34808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614882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Загрузка процесса выполняется операционной системой постранично, при этом часть страниц размещается в оперативной памяти, а часть – на диске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каждого процесса создается собственная таблица сегментов, а для каждого сегмента – своя таблица страниц.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Адрес таблицы сегментов загружается в специальный регистр процессора, когда активизируется соответствующий процесс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Таблица страниц содержит дескрипторы страниц, содержимое которых полностью аналогично содержимому описанных ранее дескрипторов страниц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48904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41754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430635"/>
              </p:ext>
            </p:extLst>
          </p:nvPr>
        </p:nvGraphicFramePr>
        <p:xfrm>
          <a:off x="879347" y="365126"/>
          <a:ext cx="3862981" cy="2011680"/>
        </p:xfrm>
        <a:graphic>
          <a:graphicData uri="http://schemas.openxmlformats.org/drawingml/2006/table">
            <a:tbl>
              <a:tblPr/>
              <a:tblGrid>
                <a:gridCol w="3862981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5CFF87C-99D2-67DC-5B66-71E546AE0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964" y="-6078"/>
            <a:ext cx="6815328" cy="686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52488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1. По номеру сегмента, заданному в виртуальном адресе, из таблицы сегментов извлекается физический адрес соответствующей таблицы страниц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2. По номеру виртуальной страницы, заданному в виртуальном адресе, из таблицы страниц извлекается дескриптор, в котором указан номер физической страницы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3. К номеру физической страницы пристыковывается младшая часть виртуального адреса – смещение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40385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5257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Хотя основной задачей операционной системы при управлении памятью является защита областей оперативной памяти, принадлежащей одному из процессов, от доступа к ней остальных процессов, в некоторых случаях оказывается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полезным организовать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контролируемый совместный доступ нескольких процессов к определенной области памяти</a:t>
            </a:r>
            <a:endParaRPr lang="en-US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в том случае, когда несколько пользователей одновременно работают с некоторым текстовым редактором, нецелесообразно многократно загружать его код в оперативную память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71832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56271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Гораздо экономичней загрузить всего одну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копию кода, которая обслуживала бы всех пользователей, работающих в данное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с этим редактором (для этого код редактора должен быть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реентерабельным)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Очевидно, что сегмент данных редактора не может присутствовать в памяти в единственном разделяемом экземпляре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каждого пользователя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должна быть создана своя копия этого сегмента, в которой помещаются редактируемый текст и значения других переменных редактора, например его конфигурация, индивидуальная для каждого пользователя, и т. п.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66983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359985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Другим примером применения разделяемой области памяти может быть использование ее в качестве буфера при межпроцессном обмене данными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этом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случае один процесс пишет в разделяемую область, а другой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читает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Подсистема виртуальной памяти представляет собой удобный механизм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решения задачи совместного доступа нескольких процессов к одному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тому же сегменту памяти, который в этом случае становится разделяемым,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 сама память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разделяемой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shared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memory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73256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01819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организации разделяемого сегмента при наличии подсистемы виртуальной памяти достаточно поместить его в виртуальное адресное пространство каждого процесса, которому нужен доступ к данному сегменту, а затем настроить параметры отображения этих виртуальных сегментов так, чтобы они соответствовали одной и той же области оперативной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Детали такой настройки зависят от типа используемой в ОС модели виртуальной памяти: сегментной или сегментно-страничной (чисто страничная организация не поддерживает понятие «сегмент», что делает невозможным решение рассматриваемой задачи)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01950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802360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при сегментной организации необходимо в дескрипторах виртуального сегмента каждого процесса указать один и тот же базовый физический адрес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сегментно-страничной организации отображение на одну и ту же область памяти достигается за счет соответствующей настройки таблицы страниц каждого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приведенном описании подразумевается, что разделяемый сегмент помещается в индивидуальную часть виртуального адресного пространства каждого процесса (а) и описывается в каждом процессе индивидуальным дескриптором сегмента (и индивидуальными дескрипторами страниц, если используется сегментно-страничный механизм)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06907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559106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«Попадание» же этих виртуальных сегментов в общую часть оперативной памяти достигается за счет согласованной настройки операционной системой многочисленных дескрипторов для множества процессов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Есть и более экономичное для ОС решение этой задачи – помещение единственного разделяемого виртуального сегмента в общую часть виртуального адресного пространства процессов, то есть в ту часть, которая обычно используется для модулей ОС (б)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этом случае настройка дескриптора сегмента (и дескрипторов страниц) выполняется только один раз, а все процессы на основе такой настройки совместно используют часть оперативной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82850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1013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86968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1DFE356-1AD1-BCF6-9F3C-4188C61A7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0" y="1495425"/>
            <a:ext cx="720090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22378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работе с разделяемыми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сегментами памяти ОС должна выполнять некоторые функции, общие для любых разделяемых между процессами ресурсов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файлов, семафоров и т. п.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Эти функции состоят в поддержке схемы именования ресурсов, проверке прав доступа определенного процесса к ресурсу,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 также в отслеживании количества процессов, пользующихся данным ресурсом (чтобы удалить его в случае ненадобности)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того чтобы отличать разделяемые сегменты памяти от индивидуальных, дескриптор сегмента должен содержать поле, имеющее два значения: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разделяемый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shared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индивидуальный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private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95521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50916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Операционная система может создавать разделяемые сегменты как по явному запросу, так и по умолчанию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первом случае прикладной процесс должен выполнить соответствующий системный вызов, по которому операционная система создает новый сегмент в соответствии с указанными в вызове параметрами: размером сегмента, разрешенными над ним операциями (чтение/запись) и идентификатором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процессы, выполнившие подобные вызовы с одними тем же идентификатором, получают доступ к этому сегменту и используют его по своему усмотрению, например, в качестве буфера для обмена данными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80400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84711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 втором случае операционная система сама в определенных ситуациях принимает решение о том, что нужно создать разделяемый сегмент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Наиболее типичным примером такого рода является поступление нескольких запросов на выполнение одного и того же приложения. Если кодовый сегмент приложения помечен в исполняемом файле как реентерабельный и разделяемый, то ОС не создает при поступлении нового запроса новую индивидуальную для процесса копию кодового сегмента этого приложения, а отображает уже существующий разделяемый сегмент на виртуальное адресное пространство процесса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27878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18140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закрытии приложения каким-либо процессом ОС проверяет, существуют ли другие процессы, пользующиеся данным приложением, и если их нет, то удаляет данный разделяемый сегмент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Разделяемые сегменты выгружаются на диск системой виртуальной памяти по тем же алгоритмам и с помощью тех же механизмов, что и индивидуальные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02469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34327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2402" y="3635620"/>
            <a:ext cx="6587197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Свопинг и виртуальная память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47590" y="3051019"/>
            <a:ext cx="1896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5949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44376</TotalTime>
  <Words>7103</Words>
  <Application>Microsoft Office PowerPoint</Application>
  <PresentationFormat>Widescreen</PresentationFormat>
  <Paragraphs>367</Paragraphs>
  <Slides>103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10" baseType="lpstr">
      <vt:lpstr>Arial</vt:lpstr>
      <vt:lpstr>Calibri</vt:lpstr>
      <vt:lpstr>Calibri Light</vt:lpstr>
      <vt:lpstr>Cambria</vt:lpstr>
      <vt:lpstr>Verdana</vt:lpstr>
      <vt:lpstr>Wingdings</vt:lpstr>
      <vt:lpstr>Тема Office</vt:lpstr>
      <vt:lpstr>Операционные системы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Операционные системы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 Bernatsky</dc:creator>
  <cp:lastModifiedBy>Pavel Bernatsky</cp:lastModifiedBy>
  <cp:revision>1449</cp:revision>
  <cp:lastPrinted>2025-11-01T06:17:20Z</cp:lastPrinted>
  <dcterms:created xsi:type="dcterms:W3CDTF">2024-09-04T11:03:42Z</dcterms:created>
  <dcterms:modified xsi:type="dcterms:W3CDTF">2025-12-11T05:07:33Z</dcterms:modified>
</cp:coreProperties>
</file>